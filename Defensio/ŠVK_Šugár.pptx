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4"/>
  </p:sldMasterIdLst>
  <p:notesMasterIdLst>
    <p:notesMasterId r:id="rId20"/>
  </p:notesMasterIdLst>
  <p:handoutMasterIdLst>
    <p:handoutMasterId r:id="rId21"/>
  </p:handoutMasterIdLst>
  <p:sldIdLst>
    <p:sldId id="310" r:id="rId5"/>
    <p:sldId id="313" r:id="rId6"/>
    <p:sldId id="342" r:id="rId7"/>
    <p:sldId id="343" r:id="rId8"/>
    <p:sldId id="344" r:id="rId9"/>
    <p:sldId id="345" r:id="rId10"/>
    <p:sldId id="346" r:id="rId11"/>
    <p:sldId id="335" r:id="rId12"/>
    <p:sldId id="347" r:id="rId13"/>
    <p:sldId id="348" r:id="rId14"/>
    <p:sldId id="349" r:id="rId15"/>
    <p:sldId id="350" r:id="rId16"/>
    <p:sldId id="352" r:id="rId17"/>
    <p:sldId id="353" r:id="rId18"/>
    <p:sldId id="32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FFD"/>
    <a:srgbClr val="E8FEFB"/>
    <a:srgbClr val="E8FFFC"/>
    <a:srgbClr val="80FBE5"/>
    <a:srgbClr val="FFFF00"/>
    <a:srgbClr val="4A5EE6"/>
    <a:srgbClr val="132BDC"/>
    <a:srgbClr val="DCE0FC"/>
    <a:srgbClr val="FDF200"/>
    <a:srgbClr val="3CF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68"/>
    <p:restoredTop sz="94646"/>
  </p:normalViewPr>
  <p:slideViewPr>
    <p:cSldViewPr snapToGrid="0">
      <p:cViewPr varScale="1">
        <p:scale>
          <a:sx n="98" d="100"/>
          <a:sy n="98" d="100"/>
        </p:scale>
        <p:origin x="23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72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5/5/26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5/5/26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535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71229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640080"/>
            <a:ext cx="7478991" cy="3635797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616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440" y="4842220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4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596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334808"/>
            <a:ext cx="8229599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63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1807950" cy="4769446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6023021"/>
            <a:ext cx="10690154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7" y="4944365"/>
            <a:ext cx="10690154" cy="914482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776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2532" y="244342"/>
            <a:ext cx="85381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05510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05510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8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88802" y="0"/>
            <a:ext cx="6619138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1E3A5278-B5E1-FBBE-AF4B-151288A1669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9347" y="228600"/>
            <a:ext cx="841248" cy="384048"/>
          </a:xfrm>
        </p:spPr>
        <p:txBody>
          <a:bodyPr/>
          <a:lstStyle/>
          <a:p>
            <a:fld id="{1FE1A989-42EF-40B2-87AB-6941C231CD4A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78D40854-7295-C18A-ECA9-35F0B7731B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9332362" y="3316833"/>
            <a:ext cx="5335225" cy="38405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EA127F09-58C9-5029-F86D-539EE848D4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 rot="16200000">
            <a:off x="11659214" y="6325209"/>
            <a:ext cx="681526" cy="38405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915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A26D96A-42E4-8591-AB40-44F5803CFF6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0"/>
            <a:ext cx="609600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5557298"/>
            <a:ext cx="5091864" cy="883258"/>
          </a:xfrm>
        </p:spPr>
        <p:txBody>
          <a:bodyPr lIns="91440" tIns="9144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417444"/>
            <a:ext cx="5091864" cy="4890965"/>
          </a:xfrm>
        </p:spPr>
        <p:txBody>
          <a:bodyPr lIns="91440" tIns="91440" rIns="0" bIns="0" anchor="b">
            <a:noAutofit/>
          </a:bodyPr>
          <a:lstStyle>
            <a:lvl1pPr algn="l"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237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7DE541-D546-A518-2627-DF4D33C643AA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640077"/>
            <a:ext cx="7763256" cy="59463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630067"/>
            <a:ext cx="7772400" cy="4572000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35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" y="2662000"/>
            <a:ext cx="8467558" cy="355456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64108"/>
            <a:ext cx="8467558" cy="155448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942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40312"/>
            <a:ext cx="11442188" cy="56769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15874"/>
            <a:ext cx="11442188" cy="528186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18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367091"/>
            <a:ext cx="11422799" cy="612381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135"/>
            <a:ext cx="10515600" cy="1325880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0223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76" y="2220977"/>
            <a:ext cx="10688608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10690155" cy="118554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07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3992" y="2386584"/>
            <a:ext cx="4804811" cy="245973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2385975"/>
            <a:ext cx="4804812" cy="245479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27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99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D74ED7B-D05F-9923-6EB3-4AA483A680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14320" y="1538288"/>
            <a:ext cx="5824481" cy="475234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537853"/>
            <a:ext cx="4317026" cy="475277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7302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8655" y="640080"/>
            <a:ext cx="5779644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51" y="640080"/>
            <a:ext cx="4296522" cy="557648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924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5995" y="640080"/>
            <a:ext cx="6802805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3338701" cy="557648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5074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50" y="230002"/>
            <a:ext cx="844059" cy="384049"/>
          </a:xfrm>
        </p:spPr>
        <p:txBody>
          <a:bodyPr/>
          <a:lstStyle/>
          <a:p>
            <a:fld id="{8FACD271-2BB0-4C13-9E3A-50B90F57CA5B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2532" y="2220977"/>
            <a:ext cx="5896267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532" y="640080"/>
            <a:ext cx="5896266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4072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7" y="3338289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1" y="6345259"/>
            <a:ext cx="641434" cy="38404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282871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21" y="640080"/>
            <a:ext cx="6282871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4740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79614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48" y="230003"/>
            <a:ext cx="844058" cy="384051"/>
          </a:xfrm>
        </p:spPr>
        <p:txBody>
          <a:bodyPr/>
          <a:lstStyle/>
          <a:p>
            <a:fld id="{1A5F77D0-C28E-4573-88F0-0A30FF98888E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4788" y="2220977"/>
            <a:ext cx="6894013" cy="399558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788" y="640080"/>
            <a:ext cx="6894013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4419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07688" y="0"/>
            <a:ext cx="4100261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4" y="3338288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3" y="6345259"/>
            <a:ext cx="641434" cy="38404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569391" cy="3995588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6569391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49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59" cy="38404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80661" y="2506738"/>
            <a:ext cx="4058141" cy="370847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661" y="640080"/>
            <a:ext cx="4058142" cy="14699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60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2313" y="0"/>
            <a:ext cx="6445856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69792" y="219040"/>
            <a:ext cx="841248" cy="403167"/>
          </a:xfrm>
        </p:spPr>
        <p:txBody>
          <a:bodyPr/>
          <a:lstStyle/>
          <a:p>
            <a:fld id="{41D22668-A3AE-429F-A351-A1583BA90793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2759" y="3327321"/>
            <a:ext cx="5375314" cy="4031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9700" y="6335696"/>
            <a:ext cx="641433" cy="403167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506737"/>
            <a:ext cx="4243632" cy="370982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07" y="640079"/>
            <a:ext cx="4244436" cy="14703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7735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60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40888" y="1745672"/>
            <a:ext cx="4218419" cy="44708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9" y="640080"/>
            <a:ext cx="4217598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772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24251" y="0"/>
            <a:ext cx="627428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4644" y="223888"/>
            <a:ext cx="841248" cy="393471"/>
          </a:xfrm>
        </p:spPr>
        <p:txBody>
          <a:bodyPr/>
          <a:lstStyle/>
          <a:p>
            <a:fld id="{46C70014-48FC-4647-9615-BBD39F98887D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7611" y="3332170"/>
            <a:ext cx="5375316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5228" y="6339869"/>
            <a:ext cx="640080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1602889"/>
            <a:ext cx="4426953" cy="46136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320040"/>
            <a:ext cx="4426953" cy="11537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388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9353" y="228599"/>
            <a:ext cx="841248" cy="384051"/>
          </a:xfrm>
        </p:spPr>
        <p:txBody>
          <a:bodyPr/>
          <a:lstStyle/>
          <a:p>
            <a:fld id="{C089F4EF-3CDF-46D7-ADF4-3A52C84FD8BE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2317" y="3336881"/>
            <a:ext cx="5375316" cy="38405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2918" y="2285999"/>
            <a:ext cx="3126383" cy="39305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791" y="640079"/>
            <a:ext cx="3126511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003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2601" y="0"/>
            <a:ext cx="7430217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1787" y="227618"/>
            <a:ext cx="841248" cy="379182"/>
          </a:xfrm>
        </p:spPr>
        <p:txBody>
          <a:bodyPr/>
          <a:lstStyle/>
          <a:p>
            <a:fld id="{E635C43F-DBB1-4D83-B442-E1529AA900C2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304" y="3318349"/>
            <a:ext cx="5340213" cy="37918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2434" y="6328433"/>
            <a:ext cx="679953" cy="37918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346897"/>
            <a:ext cx="3285306" cy="383115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9"/>
            <a:ext cx="3285306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892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8816" y="228597"/>
            <a:ext cx="841248" cy="38405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18449" y="3340209"/>
            <a:ext cx="5372517" cy="374587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2894707" cy="2953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2894707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22170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463513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320" y="5070445"/>
            <a:ext cx="5803979" cy="13321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1pPr>
            <a:lvl2pPr marL="2286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2pPr>
            <a:lvl3pPr marL="4572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3pPr>
            <a:lvl4pPr marL="685800" indent="0">
              <a:lnSpc>
                <a:spcPct val="100000"/>
              </a:lnSpc>
              <a:buFont typeface="Arial" panose="020B0604020202020204" pitchFamily="34" charset="0"/>
              <a:buNone/>
              <a:defRPr sz="1100"/>
            </a:lvl4pPr>
            <a:lvl5pPr marL="914400" indent="0">
              <a:lnSpc>
                <a:spcPct val="100000"/>
              </a:lnSpc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5070446"/>
            <a:ext cx="4317026" cy="133215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96610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21144" y="4197652"/>
            <a:ext cx="7317660" cy="2204945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4194674"/>
            <a:ext cx="2823849" cy="220494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222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79730"/>
            <a:ext cx="11807947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56490" y="251460"/>
            <a:ext cx="886968" cy="384048"/>
          </a:xfrm>
        </p:spPr>
        <p:txBody>
          <a:bodyPr/>
          <a:lstStyle/>
          <a:p>
            <a:fld id="{9128053F-E531-4885-B604-CF1A6DEEE405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422" y="3362497"/>
            <a:ext cx="5335109" cy="384049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934" y="6350094"/>
            <a:ext cx="640080" cy="38404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9328" y="640077"/>
            <a:ext cx="7099472" cy="2016112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7"/>
            <a:ext cx="3021529" cy="201195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561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9152" y="1993348"/>
            <a:ext cx="5442604" cy="4220413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0910" y="1993349"/>
            <a:ext cx="4657891" cy="4220413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4" cy="93388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0285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490726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4554" y="640077"/>
            <a:ext cx="5234247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4907265" cy="16025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625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387162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8917" y="640077"/>
            <a:ext cx="6249382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3871623" cy="1602540"/>
          </a:xfrm>
        </p:spPr>
        <p:txBody>
          <a:bodyPr lIns="91440" tIns="9144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5299364"/>
            <a:ext cx="10746884" cy="91439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746881" cy="4261106"/>
          </a:xfrm>
        </p:spPr>
        <p:txBody>
          <a:bodyPr anchor="b">
            <a:normAutofit/>
          </a:bodyPr>
          <a:lstStyle>
            <a:lvl1pPr algn="l">
              <a:defRPr sz="20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8939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92016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EAFE8D-E6F6-F95B-AE55-3E20B32F447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3EFCC7-B7E8-4ABE-BBCB-C75FD27800CD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7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240147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A1F3-DA5D-4F2E-B759-748FF8D0ACA9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1"/>
            </a:lvl1pPr>
            <a:lvl2pPr marL="228600" indent="0">
              <a:lnSpc>
                <a:spcPct val="100000"/>
              </a:lnSpc>
              <a:buNone/>
              <a:defRPr sz="40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888197"/>
            <a:ext cx="10652760" cy="7790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99288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1322-4C31-4D1F-88B1-5F79F56892AE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-841525"/>
            <a:ext cx="8238746" cy="5910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841257"/>
            <a:ext cx="9764686" cy="537250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1880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24799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012899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80CAA-82CE-AE1A-79D9-74B40375C465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982334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076" y="5669280"/>
            <a:ext cx="8933691" cy="544482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078" y="1234440"/>
            <a:ext cx="893369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032494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066601" cy="4351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1825624"/>
            <a:ext cx="5066602" cy="43881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3" cy="10408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363647"/>
      </p:ext>
    </p:extLst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8076" y="2387600"/>
            <a:ext cx="5010725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76" y="1826185"/>
            <a:ext cx="501072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2387600"/>
            <a:ext cx="5110276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6" y="1826185"/>
            <a:ext cx="511027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8"/>
            <a:ext cx="10690157" cy="10506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4819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82871"/>
      </p:ext>
    </p:extLst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808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260" y="640078"/>
            <a:ext cx="6195542" cy="557368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470245"/>
            <a:ext cx="3945971" cy="374351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2" y="640078"/>
            <a:ext cx="3945971" cy="1671043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325753"/>
      </p:ext>
    </p:extLst>
  </p:cSld>
  <p:clrMapOvr>
    <a:masterClrMapping/>
  </p:clrMapOvr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71883" y="640079"/>
            <a:ext cx="6285582" cy="5573684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826137"/>
            <a:ext cx="3879130" cy="338762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07" y="640079"/>
            <a:ext cx="3879129" cy="202192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938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0645BE-AC35-911F-0084-2CC2C836EB4D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8" y="3594099"/>
            <a:ext cx="10690154" cy="26196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1847088"/>
            <a:ext cx="7408336" cy="1133856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044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E2D40-0539-03CF-D61C-37822ABA17A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3792262"/>
            <a:ext cx="8494767" cy="127961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627318"/>
            <a:ext cx="8494767" cy="184202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725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46C58F9-5CE0-4282-46E0-3E3A700FDB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  <a:custGeom>
            <a:avLst/>
            <a:gdLst>
              <a:gd name="connsiteX0" fmla="*/ 2179508 w 4597556"/>
              <a:gd name="connsiteY0" fmla="*/ 0 h 5549900"/>
              <a:gd name="connsiteX1" fmla="*/ 4597556 w 4597556"/>
              <a:gd name="connsiteY1" fmla="*/ 0 h 5549900"/>
              <a:gd name="connsiteX2" fmla="*/ 4597556 w 4597556"/>
              <a:gd name="connsiteY2" fmla="*/ 2476634 h 5549900"/>
              <a:gd name="connsiteX3" fmla="*/ 4502141 w 4597556"/>
              <a:gd name="connsiteY3" fmla="*/ 2476634 h 5549900"/>
              <a:gd name="connsiteX4" fmla="*/ 4502141 w 4597556"/>
              <a:gd name="connsiteY4" fmla="*/ 4729244 h 5549900"/>
              <a:gd name="connsiteX5" fmla="*/ 4597556 w 4597556"/>
              <a:gd name="connsiteY5" fmla="*/ 4729244 h 5549900"/>
              <a:gd name="connsiteX6" fmla="*/ 4597556 w 4597556"/>
              <a:gd name="connsiteY6" fmla="*/ 5549900 h 5549900"/>
              <a:gd name="connsiteX7" fmla="*/ 0 w 4597556"/>
              <a:gd name="connsiteY7" fmla="*/ 5549900 h 5549900"/>
              <a:gd name="connsiteX8" fmla="*/ 0 w 4597556"/>
              <a:gd name="connsiteY8" fmla="*/ 1321566 h 5549900"/>
              <a:gd name="connsiteX9" fmla="*/ 2179508 w 4597556"/>
              <a:gd name="connsiteY9" fmla="*/ 1321566 h 55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7556" h="5549900">
                <a:moveTo>
                  <a:pt x="2179508" y="0"/>
                </a:moveTo>
                <a:lnTo>
                  <a:pt x="4597556" y="0"/>
                </a:lnTo>
                <a:lnTo>
                  <a:pt x="4597556" y="2476634"/>
                </a:lnTo>
                <a:lnTo>
                  <a:pt x="4502141" y="2476634"/>
                </a:lnTo>
                <a:lnTo>
                  <a:pt x="4502141" y="4729244"/>
                </a:lnTo>
                <a:lnTo>
                  <a:pt x="4597556" y="4729244"/>
                </a:lnTo>
                <a:lnTo>
                  <a:pt x="4597556" y="5549900"/>
                </a:lnTo>
                <a:lnTo>
                  <a:pt x="0" y="5549900"/>
                </a:lnTo>
                <a:lnTo>
                  <a:pt x="0" y="1321566"/>
                </a:lnTo>
                <a:lnTo>
                  <a:pt x="2179508" y="1321566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79D49B1-D905-CE2E-C062-AB1BDD014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C8BC9-F44B-803F-5CD7-ADFC9673F0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AA75D29-C079-E864-B363-40064D1938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5BB9C8-B774-7D15-8251-AC8ED5B99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3" y="3130095"/>
            <a:ext cx="228928" cy="225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E262A-1515-660C-5ACF-699ADA35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1720" y="640080"/>
            <a:ext cx="2743200" cy="13349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2" y="3127248"/>
            <a:ext cx="4533398" cy="3108960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4533398" cy="2157984"/>
          </a:xfrm>
        </p:spPr>
        <p:txBody>
          <a:bodyPr lIns="91440" tIns="9144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73932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F02D30-CC17-F516-802A-A3AE633BF025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DDC100-1ACB-74B7-3CAE-F0DD05CBE963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7566-C08A-6609-9FDF-AAFB5486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F4BAE-32D2-0950-CD30-3DC3084BBE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AA1005-37B1-E8E2-5040-5D847E1FC4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7" y="2355925"/>
            <a:ext cx="4545393" cy="3843707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4545395" cy="1403873"/>
          </a:xfrm>
        </p:spPr>
        <p:txBody>
          <a:bodyPr lIns="9144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07601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number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FA618DAB-55E2-19CE-F259-9FB708A90B63}"/>
              </a:ext>
            </a:extLst>
          </p:cNvPr>
          <p:cNvSpPr/>
          <p:nvPr/>
        </p:nvSpPr>
        <p:spPr>
          <a:xfrm>
            <a:off x="1959756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796A4-60C9-8766-B669-134765EE1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0" cy="6857999"/>
          </a:xfrm>
          <a:custGeom>
            <a:avLst/>
            <a:gdLst>
              <a:gd name="connsiteX0" fmla="*/ 778317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8852792 w 12192000"/>
              <a:gd name="connsiteY3" fmla="*/ 6857999 h 6857999"/>
              <a:gd name="connsiteX4" fmla="*/ 8985470 w 12192000"/>
              <a:gd name="connsiteY4" fmla="*/ 6735959 h 6857999"/>
              <a:gd name="connsiteX5" fmla="*/ 10232243 w 12192000"/>
              <a:gd name="connsiteY5" fmla="*/ 3776315 h 6857999"/>
              <a:gd name="connsiteX6" fmla="*/ 7889232 w 12192000"/>
              <a:gd name="connsiteY6" fmla="*/ 47950 h 6857999"/>
              <a:gd name="connsiteX7" fmla="*/ 0 w 12192000"/>
              <a:gd name="connsiteY7" fmla="*/ 0 h 6857999"/>
              <a:gd name="connsiteX8" fmla="*/ 4408830 w 12192000"/>
              <a:gd name="connsiteY8" fmla="*/ 0 h 6857999"/>
              <a:gd name="connsiteX9" fmla="*/ 4302768 w 12192000"/>
              <a:gd name="connsiteY9" fmla="*/ 47950 h 6857999"/>
              <a:gd name="connsiteX10" fmla="*/ 1959755 w 12192000"/>
              <a:gd name="connsiteY10" fmla="*/ 3776315 h 6857999"/>
              <a:gd name="connsiteX11" fmla="*/ 3206528 w 12192000"/>
              <a:gd name="connsiteY11" fmla="*/ 6735959 h 6857999"/>
              <a:gd name="connsiteX12" fmla="*/ 3339206 w 12192000"/>
              <a:gd name="connsiteY12" fmla="*/ 6857999 h 6857999"/>
              <a:gd name="connsiteX13" fmla="*/ 0 w 12192000"/>
              <a:gd name="connsiteY1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7999">
                <a:moveTo>
                  <a:pt x="778317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8852792" y="6857999"/>
                </a:lnTo>
                <a:lnTo>
                  <a:pt x="8985470" y="6735959"/>
                </a:lnTo>
                <a:cubicBezTo>
                  <a:pt x="9754697" y="5984857"/>
                  <a:pt x="10232243" y="4936354"/>
                  <a:pt x="10232243" y="3776315"/>
                </a:cubicBezTo>
                <a:cubicBezTo>
                  <a:pt x="10232243" y="2134414"/>
                  <a:pt x="9275569" y="715956"/>
                  <a:pt x="7889232" y="47950"/>
                </a:cubicBezTo>
                <a:close/>
                <a:moveTo>
                  <a:pt x="0" y="0"/>
                </a:moveTo>
                <a:lnTo>
                  <a:pt x="4408830" y="0"/>
                </a:lnTo>
                <a:lnTo>
                  <a:pt x="4302768" y="47950"/>
                </a:lnTo>
                <a:cubicBezTo>
                  <a:pt x="2916429" y="715956"/>
                  <a:pt x="1959755" y="2134414"/>
                  <a:pt x="1959755" y="3776315"/>
                </a:cubicBezTo>
                <a:cubicBezTo>
                  <a:pt x="1959755" y="4936354"/>
                  <a:pt x="2437301" y="5984857"/>
                  <a:pt x="3206528" y="6735959"/>
                </a:cubicBezTo>
                <a:lnTo>
                  <a:pt x="3339206" y="6857999"/>
                </a:lnTo>
                <a:lnTo>
                  <a:pt x="0" y="6857999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3914349-C0B8-28DF-90F8-5E6D083FE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8642" y="5313785"/>
            <a:ext cx="4394716" cy="76477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3AC60-CD84-E768-28B4-375CFF097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367" y="1161826"/>
            <a:ext cx="6969267" cy="3808207"/>
          </a:xfrm>
        </p:spPr>
        <p:txBody>
          <a:bodyPr lIns="0" tIns="0" rIns="0" bIns="0" anchor="b">
            <a:noAutofit/>
          </a:bodyPr>
          <a:lstStyle>
            <a:lvl1pPr algn="ctr">
              <a:defRPr sz="200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886961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EFFF036-D459-D142-290E-9C1B19A24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274474 w 4577463"/>
              <a:gd name="connsiteY7" fmla="*/ 586012 h 3698875"/>
              <a:gd name="connsiteX8" fmla="*/ 363537 w 4577463"/>
              <a:gd name="connsiteY8" fmla="*/ 520753 h 3698875"/>
              <a:gd name="connsiteX9" fmla="*/ 391698 w 4577463"/>
              <a:gd name="connsiteY9" fmla="*/ 572636 h 3698875"/>
              <a:gd name="connsiteX10" fmla="*/ 927495 w 4577463"/>
              <a:gd name="connsiteY10" fmla="*/ 857517 h 3698875"/>
              <a:gd name="connsiteX11" fmla="*/ 1573644 w 4577463"/>
              <a:gd name="connsiteY11" fmla="*/ 211368 h 3698875"/>
              <a:gd name="connsiteX12" fmla="*/ 1560517 w 4577463"/>
              <a:gd name="connsiteY12" fmla="*/ 81147 h 3698875"/>
              <a:gd name="connsiteX13" fmla="*/ 1545169 w 4577463"/>
              <a:gd name="connsiteY13" fmla="*/ 31706 h 3698875"/>
              <a:gd name="connsiteX14" fmla="*/ 1668191 w 4577463"/>
              <a:gd name="connsiteY14" fmla="*/ 13227 h 3698875"/>
              <a:gd name="connsiteX15" fmla="*/ 1934275 w 4577463"/>
              <a:gd name="connsiteY15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147368" y="693734"/>
                  <a:pt x="209659" y="638373"/>
                  <a:pt x="274474" y="586012"/>
                </a:cubicBezTo>
                <a:lnTo>
                  <a:pt x="363537" y="520753"/>
                </a:lnTo>
                <a:lnTo>
                  <a:pt x="391698" y="572636"/>
                </a:lnTo>
                <a:cubicBezTo>
                  <a:pt x="507816" y="744513"/>
                  <a:pt x="704459" y="857517"/>
                  <a:pt x="927495" y="857517"/>
                </a:cubicBezTo>
                <a:cubicBezTo>
                  <a:pt x="1284353" y="857517"/>
                  <a:pt x="1573644" y="568226"/>
                  <a:pt x="1573644" y="211368"/>
                </a:cubicBezTo>
                <a:cubicBezTo>
                  <a:pt x="1573644" y="166761"/>
                  <a:pt x="1569124" y="123209"/>
                  <a:pt x="1560517" y="81147"/>
                </a:cubicBezTo>
                <a:lnTo>
                  <a:pt x="1545169" y="31706"/>
                </a:lnTo>
                <a:lnTo>
                  <a:pt x="1668191" y="13227"/>
                </a:lnTo>
                <a:cubicBezTo>
                  <a:pt x="1755699" y="4480"/>
                  <a:pt x="1844464" y="0"/>
                  <a:pt x="1934275" y="0"/>
                </a:cubicBez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F89ECF-F048-57F5-57EF-0CAB335C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346" y="2724345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34828" y="640077"/>
            <a:ext cx="5783472" cy="5573685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8" y="640078"/>
            <a:ext cx="4317028" cy="2084268"/>
          </a:xfrm>
        </p:spPr>
        <p:txBody>
          <a:bodyPr lIns="91440" tIns="9144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219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041D3CD-4172-159B-50BA-195FCCAE119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089921" cy="4639206"/>
          </a:xfrm>
          <a:custGeom>
            <a:avLst/>
            <a:gdLst>
              <a:gd name="connsiteX0" fmla="*/ 0 w 4089921"/>
              <a:gd name="connsiteY0" fmla="*/ 0 h 4639206"/>
              <a:gd name="connsiteX1" fmla="*/ 3216644 w 4089921"/>
              <a:gd name="connsiteY1" fmla="*/ 0 h 4639206"/>
              <a:gd name="connsiteX2" fmla="*/ 3308243 w 4089921"/>
              <a:gd name="connsiteY2" fmla="*/ 83250 h 4639206"/>
              <a:gd name="connsiteX3" fmla="*/ 4089921 w 4089921"/>
              <a:gd name="connsiteY3" fmla="*/ 1970389 h 4639206"/>
              <a:gd name="connsiteX4" fmla="*/ 3308243 w 4089921"/>
              <a:gd name="connsiteY4" fmla="*/ 3857528 h 4639206"/>
              <a:gd name="connsiteX5" fmla="*/ 3279358 w 4089921"/>
              <a:gd name="connsiteY5" fmla="*/ 3883780 h 4639206"/>
              <a:gd name="connsiteX6" fmla="*/ 3254520 w 4089921"/>
              <a:gd name="connsiteY6" fmla="*/ 3853677 h 4639206"/>
              <a:gd name="connsiteX7" fmla="*/ 2797624 w 4089921"/>
              <a:gd name="connsiteY7" fmla="*/ 3664424 h 4639206"/>
              <a:gd name="connsiteX8" fmla="*/ 2151475 w 4089921"/>
              <a:gd name="connsiteY8" fmla="*/ 4310573 h 4639206"/>
              <a:gd name="connsiteX9" fmla="*/ 2164603 w 4089921"/>
              <a:gd name="connsiteY9" fmla="*/ 4440795 h 4639206"/>
              <a:gd name="connsiteX10" fmla="*/ 2190853 w 4089921"/>
              <a:gd name="connsiteY10" fmla="*/ 4525361 h 4639206"/>
              <a:gd name="connsiteX11" fmla="*/ 1958964 w 4089921"/>
              <a:gd name="connsiteY11" fmla="*/ 4584985 h 4639206"/>
              <a:gd name="connsiteX12" fmla="*/ 1421104 w 4089921"/>
              <a:gd name="connsiteY12" fmla="*/ 4639206 h 4639206"/>
              <a:gd name="connsiteX13" fmla="*/ 148987 w 4089921"/>
              <a:gd name="connsiteY13" fmla="*/ 4317094 h 4639206"/>
              <a:gd name="connsiteX14" fmla="*/ 0 w 4089921"/>
              <a:gd name="connsiteY14" fmla="*/ 4226582 h 463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89921" h="4639206">
                <a:moveTo>
                  <a:pt x="0" y="0"/>
                </a:moveTo>
                <a:lnTo>
                  <a:pt x="3216644" y="0"/>
                </a:lnTo>
                <a:lnTo>
                  <a:pt x="3308243" y="83250"/>
                </a:lnTo>
                <a:cubicBezTo>
                  <a:pt x="3791204" y="566211"/>
                  <a:pt x="4089921" y="1233416"/>
                  <a:pt x="4089921" y="1970389"/>
                </a:cubicBezTo>
                <a:cubicBezTo>
                  <a:pt x="4089921" y="2707363"/>
                  <a:pt x="3791204" y="3374567"/>
                  <a:pt x="3308243" y="3857528"/>
                </a:cubicBezTo>
                <a:lnTo>
                  <a:pt x="3279358" y="3883780"/>
                </a:lnTo>
                <a:lnTo>
                  <a:pt x="3254520" y="3853677"/>
                </a:lnTo>
                <a:cubicBezTo>
                  <a:pt x="3137590" y="3736747"/>
                  <a:pt x="2976053" y="3664424"/>
                  <a:pt x="2797624" y="3664424"/>
                </a:cubicBezTo>
                <a:cubicBezTo>
                  <a:pt x="2440766" y="3664424"/>
                  <a:pt x="2151475" y="3953715"/>
                  <a:pt x="2151475" y="4310573"/>
                </a:cubicBezTo>
                <a:cubicBezTo>
                  <a:pt x="2151475" y="4355180"/>
                  <a:pt x="2155995" y="4398732"/>
                  <a:pt x="2164603" y="4440795"/>
                </a:cubicBezTo>
                <a:lnTo>
                  <a:pt x="2190853" y="4525361"/>
                </a:lnTo>
                <a:lnTo>
                  <a:pt x="1958964" y="4584985"/>
                </a:lnTo>
                <a:cubicBezTo>
                  <a:pt x="1785230" y="4620536"/>
                  <a:pt x="1605347" y="4639206"/>
                  <a:pt x="1421104" y="4639206"/>
                </a:cubicBezTo>
                <a:cubicBezTo>
                  <a:pt x="960496" y="4639206"/>
                  <a:pt x="527141" y="4522520"/>
                  <a:pt x="148987" y="4317094"/>
                </a:cubicBezTo>
                <a:lnTo>
                  <a:pt x="0" y="422658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A47180-C126-D9FC-1291-43F1766DE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51476" y="3664424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577" y="5142155"/>
            <a:ext cx="6538723" cy="1071607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577" y="640078"/>
            <a:ext cx="6538722" cy="4179348"/>
          </a:xfrm>
        </p:spPr>
        <p:txBody>
          <a:bodyPr lIns="91440" tIns="0" rIns="0" bIns="0" anchor="b">
            <a:noAutofit/>
          </a:bodyPr>
          <a:lstStyle>
            <a:lvl1pPr>
              <a:defRPr sz="20000" baseline="0"/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2508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DCDB3F9-C083-E428-E97B-C0CC63BC0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577948" y="230006"/>
            <a:ext cx="844062" cy="384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291CE83-67BA-4B15-B48A-7DC5C0636664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9313725" y="3338288"/>
            <a:ext cx="5372505" cy="384047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679259" y="6345258"/>
            <a:ext cx="641433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90" y="2220977"/>
            <a:ext cx="10953964" cy="3955986"/>
          </a:xfrm>
          <a:prstGeom prst="rect">
            <a:avLst/>
          </a:prstGeom>
        </p:spPr>
        <p:txBody>
          <a:bodyPr vert="horz" lIns="9144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58" y="640080"/>
            <a:ext cx="10953964" cy="1095059"/>
          </a:xfrm>
          <a:prstGeom prst="rect">
            <a:avLst/>
          </a:prstGeom>
        </p:spPr>
        <p:txBody>
          <a:bodyPr vert="horz" lIns="91440" tIns="9144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3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81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  <p:sldLayoutId id="2147483757" r:id="rId28"/>
    <p:sldLayoutId id="2147483758" r:id="rId29"/>
    <p:sldLayoutId id="2147483759" r:id="rId30"/>
    <p:sldLayoutId id="2147483760" r:id="rId31"/>
    <p:sldLayoutId id="2147483761" r:id="rId32"/>
    <p:sldLayoutId id="2147483762" r:id="rId33"/>
    <p:sldLayoutId id="2147483763" r:id="rId34"/>
    <p:sldLayoutId id="2147483764" r:id="rId35"/>
    <p:sldLayoutId id="2147483765" r:id="rId36"/>
    <p:sldLayoutId id="2147483766" r:id="rId37"/>
    <p:sldLayoutId id="2147483767" r:id="rId38"/>
    <p:sldLayoutId id="2147483768" r:id="rId39"/>
    <p:sldLayoutId id="2147483769" r:id="rId40"/>
    <p:sldLayoutId id="2147483770" r:id="rId41"/>
    <p:sldLayoutId id="2147483771" r:id="rId42"/>
    <p:sldLayoutId id="2147483772" r:id="rId43"/>
    <p:sldLayoutId id="2147483773" r:id="rId44"/>
    <p:sldLayoutId id="2147483774" r:id="rId45"/>
    <p:sldLayoutId id="2147483775" r:id="rId46"/>
    <p:sldLayoutId id="2147483776" r:id="rId47"/>
    <p:sldLayoutId id="2147483777" r:id="rId48"/>
    <p:sldLayoutId id="2147483778" r:id="rId49"/>
    <p:sldLayoutId id="2147483779" r:id="rId50"/>
    <p:sldLayoutId id="2147483780" r:id="rId51"/>
    <p:sldLayoutId id="2147483782" r:id="rId52"/>
    <p:sldLayoutId id="2147483783" r:id="rId53"/>
    <p:sldLayoutId id="2147483784" r:id="rId54"/>
    <p:sldLayoutId id="2147483785" r:id="rId55"/>
    <p:sldLayoutId id="2147483786" r:id="rId5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orient="horz" pos="2160" userDrawn="1">
          <p15:clr>
            <a:srgbClr val="A4A3A4"/>
          </p15:clr>
        </p15:guide>
        <p15:guide id="27" orient="horz" pos="1152" userDrawn="1">
          <p15:clr>
            <a:srgbClr val="547EBF"/>
          </p15:clr>
        </p15:guide>
        <p15:guide id="28" pos="7440" userDrawn="1">
          <p15:clr>
            <a:srgbClr val="547EBF"/>
          </p15:clr>
        </p15:guide>
        <p15:guide id="29" orient="horz" pos="4080" userDrawn="1">
          <p15:clr>
            <a:srgbClr val="547EBF"/>
          </p15:clr>
        </p15:guide>
        <p15:guide id="30" userDrawn="1">
          <p15:clr>
            <a:srgbClr val="547EBF"/>
          </p15:clr>
        </p15:guide>
        <p15:guide id="31" pos="7680" userDrawn="1">
          <p15:clr>
            <a:srgbClr val="547EBF"/>
          </p15:clr>
        </p15:guide>
        <p15:guide id="32" pos="528" userDrawn="1">
          <p15:clr>
            <a:srgbClr val="547EBF"/>
          </p15:clr>
        </p15:guide>
        <p15:guide id="33" pos="6912" userDrawn="1">
          <p15:clr>
            <a:srgbClr val="547EBF"/>
          </p15:clr>
        </p15:guide>
        <p15:guide id="34" orient="horz" pos="240" userDrawn="1">
          <p15:clr>
            <a:srgbClr val="547EBF"/>
          </p15:clr>
        </p15:guide>
        <p15:guide id="3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5300-AC43-F396-6E83-73A31578C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489" y="1676661"/>
            <a:ext cx="6096001" cy="2816970"/>
          </a:xfrm>
        </p:spPr>
        <p:txBody>
          <a:bodyPr anchor="b"/>
          <a:lstStyle/>
          <a:p>
            <a:r>
              <a:rPr lang="sk-SK" sz="2800" dirty="0"/>
              <a:t>Segment </a:t>
            </a:r>
            <a:r>
              <a:rPr lang="sk-SK" sz="2800" dirty="0" err="1"/>
              <a:t>focused</a:t>
            </a:r>
            <a:r>
              <a:rPr lang="sk-SK" sz="2800" dirty="0"/>
              <a:t> </a:t>
            </a:r>
            <a:r>
              <a:rPr lang="sk-SK" sz="2800" dirty="0" err="1"/>
              <a:t>portfolio</a:t>
            </a:r>
            <a:r>
              <a:rPr lang="sk-SK" sz="2800" dirty="0"/>
              <a:t> </a:t>
            </a:r>
            <a:r>
              <a:rPr lang="sk-SK" sz="2800" dirty="0" err="1"/>
              <a:t>optimization</a:t>
            </a:r>
            <a:r>
              <a:rPr lang="sk-SK" sz="2800" dirty="0"/>
              <a:t> </a:t>
            </a:r>
            <a:r>
              <a:rPr lang="sk-SK" sz="2800" dirty="0" err="1"/>
              <a:t>based</a:t>
            </a:r>
            <a:r>
              <a:rPr lang="sk-SK" sz="2800" dirty="0"/>
              <a:t> on </a:t>
            </a:r>
            <a:r>
              <a:rPr lang="sk-SK" sz="2800" dirty="0" err="1"/>
              <a:t>machine</a:t>
            </a:r>
            <a:r>
              <a:rPr lang="sk-SK" sz="2800" dirty="0"/>
              <a:t> </a:t>
            </a:r>
            <a:r>
              <a:rPr lang="sk-SK" sz="2800" dirty="0" err="1"/>
              <a:t>learning</a:t>
            </a:r>
            <a:r>
              <a:rPr lang="sk-SK" sz="2800" dirty="0"/>
              <a:t> </a:t>
            </a:r>
            <a:r>
              <a:rPr lang="sk-SK" sz="2800" dirty="0" err="1"/>
              <a:t>predictions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BE460-3185-CD59-0215-356A228D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5056284"/>
            <a:ext cx="5091864" cy="1016497"/>
          </a:xfrm>
        </p:spPr>
        <p:txBody>
          <a:bodyPr/>
          <a:lstStyle/>
          <a:p>
            <a:r>
              <a:rPr lang="en-US" dirty="0"/>
              <a:t>Autor: Marek Šugár</a:t>
            </a:r>
          </a:p>
          <a:p>
            <a:r>
              <a:rPr lang="en-US" dirty="0" err="1"/>
              <a:t>Školiteľ</a:t>
            </a:r>
            <a:r>
              <a:rPr lang="en-US" dirty="0"/>
              <a:t>: Samuel rosa</a:t>
            </a:r>
          </a:p>
          <a:p>
            <a:endParaRPr lang="en-US" dirty="0"/>
          </a:p>
        </p:txBody>
      </p:sp>
      <p:pic>
        <p:nvPicPr>
          <p:cNvPr id="8" name="Picture Placeholder 7" descr="Low angle view of a building">
            <a:extLst>
              <a:ext uri="{FF2B5EF4-FFF2-40B4-BE49-F238E27FC236}">
                <a16:creationId xmlns:a16="http://schemas.microsoft.com/office/drawing/2014/main" id="{67D960B2-8A54-F8C8-80BB-D238AE8EBA30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1490" y="0"/>
            <a:ext cx="5640510" cy="6858000"/>
          </a:xfr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F45C2C0-54FA-3BF9-54A1-71B2FE171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796354" y="0"/>
            <a:ext cx="3179653" cy="1801715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48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6050109-B944-0690-8A71-87B1A558F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94" y="1986199"/>
            <a:ext cx="10688608" cy="38859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Správanie finančných trhov je ovplyvňované veľkým množstvom externých premenných.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Približná aproximácia vývoja cien akcií má vysoký význam pre investorov.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575F8A3-6C0C-31A6-1F74-20CB9F8EB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MOTIVÁCIA Výskumu</a:t>
            </a:r>
          </a:p>
        </p:txBody>
      </p:sp>
    </p:spTree>
    <p:extLst>
      <p:ext uri="{BB962C8B-B14F-4D97-AF65-F5344CB8AC3E}">
        <p14:creationId xmlns:p14="http://schemas.microsoft.com/office/powerpoint/2010/main" val="182490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32D7421A-6A08-E508-0D7C-92D7F8357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Štúdie venujúce sa tvorbe predikčných </a:t>
            </a:r>
            <a:r>
              <a:rPr lang="sk-SK" i="1" dirty="0" err="1"/>
              <a:t>pipelines</a:t>
            </a:r>
            <a:r>
              <a:rPr lang="sk-SK" dirty="0"/>
              <a:t> na báze strojového učenia (ML).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Limitovanie na vybranú množinu niekoľkých akcií alebo niektoré konvenčné akciové indexy.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sk-S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Nízky počet štúdií venujúcich sa jednotnej skupine akcií – napr. podľa krajiny, odvetvia a pod. (s primárnym záujmom v ML)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Štúdie venujúce sa len prediktívnej analýze a jej </a:t>
            </a:r>
            <a:r>
              <a:rPr lang="sk-SK" dirty="0" err="1"/>
              <a:t>evaluácii</a:t>
            </a:r>
            <a:r>
              <a:rPr lang="sk-SK" dirty="0"/>
              <a:t> – žiadna aplikácia praktického využitia.</a:t>
            </a:r>
          </a:p>
          <a:p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DF863F4-A6DB-47DE-78FC-79B05F571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Doterajší stav problematiky</a:t>
            </a:r>
          </a:p>
        </p:txBody>
      </p:sp>
    </p:spTree>
    <p:extLst>
      <p:ext uri="{BB962C8B-B14F-4D97-AF65-F5344CB8AC3E}">
        <p14:creationId xmlns:p14="http://schemas.microsoft.com/office/powerpoint/2010/main" val="279115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01EFF1AB-ECD2-FECE-13E1-013A83D8D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Analýza odvetvia </a:t>
            </a:r>
            <a:r>
              <a:rPr lang="sk-SK" b="1" dirty="0"/>
              <a:t>Informačné technológie,</a:t>
            </a:r>
            <a:r>
              <a:rPr lang="sk-SK" dirty="0"/>
              <a:t> spomedzi najhodnotnejších firiem v USA (dovedna 65 akcií).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Predikcia nasledujúcej </a:t>
            </a:r>
            <a:r>
              <a:rPr lang="sk-SK" b="1" dirty="0"/>
              <a:t>uzatváracej ceny </a:t>
            </a:r>
            <a:r>
              <a:rPr lang="sk-SK" dirty="0"/>
              <a:t>s dennou frekvenciou.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Aplikácia optimalizovaných predikčných modelov na </a:t>
            </a:r>
            <a:r>
              <a:rPr lang="sk-SK" b="1" dirty="0"/>
              <a:t>optimalizáciu portfólia.</a:t>
            </a:r>
            <a:endParaRPr lang="sk-S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D7D04EB-7E5C-DE9F-73BD-299F1632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Aplikovaný prístup</a:t>
            </a:r>
          </a:p>
        </p:txBody>
      </p:sp>
    </p:spTree>
    <p:extLst>
      <p:ext uri="{BB962C8B-B14F-4D97-AF65-F5344CB8AC3E}">
        <p14:creationId xmlns:p14="http://schemas.microsoft.com/office/powerpoint/2010/main" val="3794453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652B1522-B899-A270-2A89-DCBEE2C1C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Pre lepšiu </a:t>
            </a:r>
            <a:r>
              <a:rPr lang="sk-SK" dirty="0" err="1"/>
              <a:t>responzivitu</a:t>
            </a:r>
            <a:r>
              <a:rPr lang="sk-SK" dirty="0"/>
              <a:t> modelu bol využitý koncept </a:t>
            </a:r>
            <a:r>
              <a:rPr lang="sk-SK" b="1" dirty="0" err="1"/>
              <a:t>rolling</a:t>
            </a:r>
            <a:r>
              <a:rPr lang="sk-SK" b="1" dirty="0"/>
              <a:t> </a:t>
            </a:r>
            <a:r>
              <a:rPr lang="sk-SK" b="1" dirty="0" err="1"/>
              <a:t>window</a:t>
            </a:r>
            <a:r>
              <a:rPr lang="sk-SK" b="1" dirty="0"/>
              <a:t> (plávajúce okno).</a:t>
            </a: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2DC3E82-B4C6-C1BF-E63A-C0394F3D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Predikčná metodika</a:t>
            </a:r>
          </a:p>
        </p:txBody>
      </p:sp>
      <p:pic>
        <p:nvPicPr>
          <p:cNvPr id="1026" name="Picture 2" descr="The rolling window cross validation setup.">
            <a:extLst>
              <a:ext uri="{FF2B5EF4-FFF2-40B4-BE49-F238E27FC236}">
                <a16:creationId xmlns:a16="http://schemas.microsoft.com/office/drawing/2014/main" id="{F46E5FE9-F8E2-7FE0-6128-6952207C5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821" y="3137017"/>
            <a:ext cx="8336357" cy="307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5BC4C4C6-3F41-B24B-8E96-7FF4B792F4CC}"/>
              </a:ext>
            </a:extLst>
          </p:cNvPr>
          <p:cNvSpPr txBox="1"/>
          <p:nvPr/>
        </p:nvSpPr>
        <p:spPr>
          <a:xfrm>
            <a:off x="4767975" y="6031899"/>
            <a:ext cx="265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(</a:t>
            </a:r>
            <a:r>
              <a:rPr lang="sk-SK" dirty="0" err="1"/>
              <a:t>Burmeister</a:t>
            </a:r>
            <a:r>
              <a:rPr lang="sk-SK" dirty="0"/>
              <a:t> et al., 2025)</a:t>
            </a:r>
          </a:p>
        </p:txBody>
      </p:sp>
    </p:spTree>
    <p:extLst>
      <p:ext uri="{BB962C8B-B14F-4D97-AF65-F5344CB8AC3E}">
        <p14:creationId xmlns:p14="http://schemas.microsoft.com/office/powerpoint/2010/main" val="78859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AE89700-920F-6FD6-F4D5-A9BC27B04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September 2017 až december 2022 – </a:t>
            </a:r>
            <a:r>
              <a:rPr lang="sk-SK" dirty="0" err="1"/>
              <a:t>trénovacio</a:t>
            </a:r>
            <a:r>
              <a:rPr lang="sk-SK" dirty="0"/>
              <a:t>-validačná množina.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Január 2023 a januárom 2026 – testovacia množina.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sk-SK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Využité </a:t>
            </a:r>
            <a:r>
              <a:rPr lang="sk-SK" dirty="0" err="1"/>
              <a:t>prediktory</a:t>
            </a:r>
            <a:r>
              <a:rPr lang="sk-SK" dirty="0"/>
              <a:t> sú historické dáta: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sk-SK" b="1" dirty="0"/>
              <a:t>akciových indexov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sk-SK" b="1" dirty="0"/>
              <a:t>dlhopisov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sk-SK" b="1" dirty="0"/>
              <a:t>trhových</a:t>
            </a:r>
            <a:r>
              <a:rPr lang="sk-SK" dirty="0"/>
              <a:t> </a:t>
            </a:r>
            <a:r>
              <a:rPr lang="sk-SK" b="1" dirty="0"/>
              <a:t>indikátorov.</a:t>
            </a:r>
            <a:endParaRPr lang="sk-S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E5C0749-FB9D-2AD3-0FBC-AB624F99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Predikčná metodika</a:t>
            </a:r>
          </a:p>
        </p:txBody>
      </p:sp>
    </p:spTree>
    <p:extLst>
      <p:ext uri="{BB962C8B-B14F-4D97-AF65-F5344CB8AC3E}">
        <p14:creationId xmlns:p14="http://schemas.microsoft.com/office/powerpoint/2010/main" val="3779417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57F62823-D8AB-1577-C544-3ECDE0728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Má zmysel pozorovať aj </a:t>
            </a:r>
            <a:r>
              <a:rPr lang="sk-SK" i="1" dirty="0"/>
              <a:t>„lacné“, resp. </a:t>
            </a:r>
            <a:r>
              <a:rPr lang="sk-SK" dirty="0"/>
              <a:t>„</a:t>
            </a:r>
            <a:r>
              <a:rPr lang="sk-SK" i="1" dirty="0"/>
              <a:t>jednoduché“ </a:t>
            </a:r>
            <a:r>
              <a:rPr lang="sk-SK" dirty="0"/>
              <a:t>prediktívne prístupy.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Naivný model, predikujúci nasledujúcu uzatváraciu cenu rovnú poslednej.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b="1" dirty="0"/>
              <a:t>Dominancia modelu </a:t>
            </a:r>
            <a:r>
              <a:rPr lang="sk-SK" dirty="0"/>
              <a:t>kvantifikuje, v koľkých % prípadov je netriviálny model bližšie k skutočnej cene ako triviálny.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60DCD94-C215-BBF9-D0B3-9B9FCD73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Naivný prístup</a:t>
            </a:r>
          </a:p>
        </p:txBody>
      </p:sp>
    </p:spTree>
    <p:extLst>
      <p:ext uri="{BB962C8B-B14F-4D97-AF65-F5344CB8AC3E}">
        <p14:creationId xmlns:p14="http://schemas.microsoft.com/office/powerpoint/2010/main" val="98430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BD166-A02F-6E3F-C4E5-91D378EF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Zástupný objekt pre obsah 6">
            <a:extLst>
              <a:ext uri="{FF2B5EF4-FFF2-40B4-BE49-F238E27FC236}">
                <a16:creationId xmlns:a16="http://schemas.microsoft.com/office/drawing/2014/main" id="{7623C176-8F76-25CA-BFB5-3FDDEB973F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499008"/>
              </p:ext>
            </p:extLst>
          </p:nvPr>
        </p:nvGraphicFramePr>
        <p:xfrm>
          <a:off x="751681" y="2501900"/>
          <a:ext cx="10688639" cy="33375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62879">
                  <a:extLst>
                    <a:ext uri="{9D8B030D-6E8A-4147-A177-3AD203B41FA5}">
                      <a16:colId xmlns:a16="http://schemas.microsoft.com/office/drawing/2014/main" val="1970752325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336946685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1740456264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3794713992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263367507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sk-SK" dirty="0"/>
                        <a:t>Použitý algoritmus</a:t>
                      </a:r>
                    </a:p>
                  </a:txBody>
                  <a:tcPr anchor="ctr">
                    <a:lnR>
                      <a:noFill/>
                    </a:ln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sk-SK" dirty="0"/>
                        <a:t>Priemerná % odchýlka</a:t>
                      </a:r>
                    </a:p>
                  </a:txBody>
                  <a:tcPr>
                    <a:lnL>
                      <a:noFill/>
                    </a:lnL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sk-SK" dirty="0"/>
                        <a:t>Dominancia modelu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2228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Tréning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Testovanie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Tréning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Testovanie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8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ARIMA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1.90 %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1.92 %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>
                          <a:highlight>
                            <a:srgbClr val="00FF00"/>
                          </a:highlight>
                        </a:rPr>
                        <a:t>58.25 %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>
                          <a:highlight>
                            <a:srgbClr val="00FF00"/>
                          </a:highlight>
                        </a:rPr>
                        <a:t>56.68 %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701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Naivný prístup &amp; KNN &amp; RF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>
                          <a:highlight>
                            <a:srgbClr val="00FF00"/>
                          </a:highlight>
                        </a:rPr>
                        <a:t>1.69 %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>
                          <a:highlight>
                            <a:srgbClr val="00FF00"/>
                          </a:highlight>
                        </a:rPr>
                        <a:t>1.73 %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639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RIDGE Regresia (Stock-</a:t>
                      </a:r>
                      <a:r>
                        <a:rPr lang="sk-SK" b="1" dirty="0" err="1"/>
                        <a:t>wise</a:t>
                      </a:r>
                      <a:r>
                        <a:rPr lang="sk-SK" b="1" dirty="0"/>
                        <a:t>)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1.79 %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1.79 %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45.15 %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45.94 %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861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RIDGE Regresia (General)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1.79 %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1.80 %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45.08 %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45.88 %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066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Lineárna regresia</a:t>
                      </a:r>
                    </a:p>
                  </a:txBody>
                  <a:tcPr>
                    <a:solidFill>
                      <a:srgbClr val="E8F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1.84 %</a:t>
                      </a:r>
                    </a:p>
                  </a:txBody>
                  <a:tcPr>
                    <a:solidFill>
                      <a:srgbClr val="E8F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1.85 %</a:t>
                      </a:r>
                    </a:p>
                  </a:txBody>
                  <a:tcPr>
                    <a:solidFill>
                      <a:srgbClr val="E8F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44.82 %</a:t>
                      </a:r>
                    </a:p>
                  </a:txBody>
                  <a:tcPr>
                    <a:solidFill>
                      <a:srgbClr val="E8F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43.47 %</a:t>
                      </a:r>
                    </a:p>
                  </a:txBody>
                  <a:tcPr>
                    <a:solidFill>
                      <a:srgbClr val="E8F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13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LASSO Regresia (General)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2.30 %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2.24 %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36.16 %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38.83 %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296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LASSO Regresia (Stock-</a:t>
                      </a:r>
                      <a:r>
                        <a:rPr lang="sk-SK" b="1" dirty="0" err="1"/>
                        <a:t>wise</a:t>
                      </a:r>
                      <a:r>
                        <a:rPr lang="sk-SK" b="1" dirty="0"/>
                        <a:t>)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2.27 %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2.31 %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35.81 %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37.10 %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406933"/>
                  </a:ext>
                </a:extLst>
              </a:tr>
            </a:tbl>
          </a:graphicData>
        </a:graphic>
      </p:graphicFrame>
      <p:sp>
        <p:nvSpPr>
          <p:cNvPr id="5" name="Nadpis 4">
            <a:extLst>
              <a:ext uri="{FF2B5EF4-FFF2-40B4-BE49-F238E27FC236}">
                <a16:creationId xmlns:a16="http://schemas.microsoft.com/office/drawing/2014/main" id="{E54AD341-80C7-771C-23DF-A3D6976A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VÝSLEDKY Predikcií</a:t>
            </a:r>
          </a:p>
        </p:txBody>
      </p:sp>
    </p:spTree>
    <p:extLst>
      <p:ext uri="{BB962C8B-B14F-4D97-AF65-F5344CB8AC3E}">
        <p14:creationId xmlns:p14="http://schemas.microsoft.com/office/powerpoint/2010/main" val="88720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AE3CBB4A-8825-4266-3662-39A17C428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Optimalizované modely dokážu predikovať výnosnosť akcií s dennou frekvenciou.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Možno aplikovať </a:t>
            </a:r>
            <a:r>
              <a:rPr lang="sk-SK" b="1" dirty="0" err="1"/>
              <a:t>Markowitzov</a:t>
            </a:r>
            <a:r>
              <a:rPr lang="sk-SK" b="1" dirty="0"/>
              <a:t> </a:t>
            </a:r>
            <a:r>
              <a:rPr lang="sk-SK" b="1" dirty="0" err="1"/>
              <a:t>mean-variance</a:t>
            </a:r>
            <a:r>
              <a:rPr lang="sk-SK" b="1" dirty="0"/>
              <a:t> model</a:t>
            </a:r>
            <a:r>
              <a:rPr lang="sk-SK" dirty="0"/>
              <a:t>, optimalizujúci </a:t>
            </a:r>
            <a:r>
              <a:rPr lang="sk-SK" i="1" dirty="0" err="1"/>
              <a:t>trade-off</a:t>
            </a:r>
            <a:r>
              <a:rPr lang="sk-SK" b="1" i="1" dirty="0"/>
              <a:t> </a:t>
            </a:r>
            <a:r>
              <a:rPr lang="sk-SK" dirty="0"/>
              <a:t>medzi výnosom potenciálneho portfólia a jeho </a:t>
            </a:r>
            <a:r>
              <a:rPr lang="sk-SK" dirty="0" err="1"/>
              <a:t>varianciou</a:t>
            </a:r>
            <a:r>
              <a:rPr lang="sk-SK" dirty="0"/>
              <a:t>. 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2844D6E-C6C5-F4E2-8289-C2FB2C63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Aplikácia na optimalizáciu portfólia</a:t>
            </a:r>
          </a:p>
        </p:txBody>
      </p:sp>
    </p:spTree>
    <p:extLst>
      <p:ext uri="{BB962C8B-B14F-4D97-AF65-F5344CB8AC3E}">
        <p14:creationId xmlns:p14="http://schemas.microsoft.com/office/powerpoint/2010/main" val="347064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8253-9CC9-C76C-A49C-BEF5BD88A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C41D1E07-8AAF-2829-EECD-C4D87617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MARKOWITZOV MEAN-VARIANCE MODEL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73E3D450-5494-1120-48C4-D6EC49FFC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135" y="3185856"/>
            <a:ext cx="9621729" cy="1641803"/>
          </a:xfrm>
          <a:prstGeom prst="rect">
            <a:avLst/>
          </a:prstGeom>
        </p:spPr>
      </p:pic>
      <p:sp>
        <p:nvSpPr>
          <p:cNvPr id="7" name="Ľavá zložená zátvorka 6">
            <a:extLst>
              <a:ext uri="{FF2B5EF4-FFF2-40B4-BE49-F238E27FC236}">
                <a16:creationId xmlns:a16="http://schemas.microsoft.com/office/drawing/2014/main" id="{47F05076-7DF3-4C3B-0D9C-51EC8EAA552F}"/>
              </a:ext>
            </a:extLst>
          </p:cNvPr>
          <p:cNvSpPr/>
          <p:nvPr/>
        </p:nvSpPr>
        <p:spPr>
          <a:xfrm rot="5400000">
            <a:off x="5273617" y="1585669"/>
            <a:ext cx="298141" cy="3276665"/>
          </a:xfrm>
          <a:prstGeom prst="leftBrace">
            <a:avLst>
              <a:gd name="adj1" fmla="val 8333"/>
              <a:gd name="adj2" fmla="val 48847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Ľavá zložená zátvorka 7">
            <a:extLst>
              <a:ext uri="{FF2B5EF4-FFF2-40B4-BE49-F238E27FC236}">
                <a16:creationId xmlns:a16="http://schemas.microsoft.com/office/drawing/2014/main" id="{CE59F589-E726-B2C2-E322-E960FBE543DC}"/>
              </a:ext>
            </a:extLst>
          </p:cNvPr>
          <p:cNvSpPr/>
          <p:nvPr/>
        </p:nvSpPr>
        <p:spPr>
          <a:xfrm rot="5400000">
            <a:off x="8825315" y="1879816"/>
            <a:ext cx="298140" cy="2688372"/>
          </a:xfrm>
          <a:prstGeom prst="leftBrace">
            <a:avLst>
              <a:gd name="adj1" fmla="val 8333"/>
              <a:gd name="adj2" fmla="val 48847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04D0CB01-9D45-5880-B4C8-5719A56D0D04}"/>
              </a:ext>
            </a:extLst>
          </p:cNvPr>
          <p:cNvSpPr txBox="1"/>
          <p:nvPr/>
        </p:nvSpPr>
        <p:spPr>
          <a:xfrm>
            <a:off x="4237811" y="2650137"/>
            <a:ext cx="2577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Štandardný M-V Model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4235C346-1991-BC22-1A91-96FE5A74346B}"/>
              </a:ext>
            </a:extLst>
          </p:cNvPr>
          <p:cNvSpPr txBox="1"/>
          <p:nvPr/>
        </p:nvSpPr>
        <p:spPr>
          <a:xfrm>
            <a:off x="7729961" y="2511637"/>
            <a:ext cx="268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dirty="0"/>
              <a:t>Obmedzenie transakčných poplatkov</a:t>
            </a:r>
          </a:p>
        </p:txBody>
      </p:sp>
    </p:spTree>
    <p:extLst>
      <p:ext uri="{BB962C8B-B14F-4D97-AF65-F5344CB8AC3E}">
        <p14:creationId xmlns:p14="http://schemas.microsoft.com/office/powerpoint/2010/main" val="795186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E583-E7BB-561F-66E1-60411521E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Zástupný objekt pre obsah 6">
            <a:extLst>
              <a:ext uri="{FF2B5EF4-FFF2-40B4-BE49-F238E27FC236}">
                <a16:creationId xmlns:a16="http://schemas.microsoft.com/office/drawing/2014/main" id="{E8C062BE-A34B-2AB6-A6CB-388E4EFB3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630007"/>
              </p:ext>
            </p:extLst>
          </p:nvPr>
        </p:nvGraphicFramePr>
        <p:xfrm>
          <a:off x="751681" y="2501900"/>
          <a:ext cx="10688639" cy="2966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62879">
                  <a:extLst>
                    <a:ext uri="{9D8B030D-6E8A-4147-A177-3AD203B41FA5}">
                      <a16:colId xmlns:a16="http://schemas.microsoft.com/office/drawing/2014/main" val="1970752325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336946685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1740456264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3794713992"/>
                    </a:ext>
                  </a:extLst>
                </a:gridCol>
                <a:gridCol w="1781440">
                  <a:extLst>
                    <a:ext uri="{9D8B030D-6E8A-4147-A177-3AD203B41FA5}">
                      <a16:colId xmlns:a16="http://schemas.microsoft.com/office/drawing/2014/main" val="263367507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sk-SK" dirty="0"/>
                        <a:t>Použitý algoritmus</a:t>
                      </a:r>
                    </a:p>
                  </a:txBody>
                  <a:tcPr anchor="ctr">
                    <a:lnR>
                      <a:noFill/>
                    </a:ln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sk-SK" dirty="0"/>
                        <a:t>Priemerný ročný výnos (%)</a:t>
                      </a:r>
                    </a:p>
                  </a:txBody>
                  <a:tcPr>
                    <a:lnL>
                      <a:noFill/>
                    </a:lnL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sk-SK" dirty="0"/>
                        <a:t>Volatilita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2228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sk-SK" dirty="0"/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Tréning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Testovanie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Tréning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Testovanie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8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ARIMA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22.25 %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16.48 %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17.01 %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25.20 %</a:t>
                      </a:r>
                    </a:p>
                  </a:txBody>
                  <a:tcPr>
                    <a:lnT w="38100" cap="flat" cmpd="sng" algn="ctr">
                      <a:solidFill>
                        <a:srgbClr val="3CF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F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701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Naivný prístup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>
                          <a:highlight>
                            <a:srgbClr val="00FF00"/>
                          </a:highlight>
                        </a:rPr>
                        <a:t>22.38 %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15.67 %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16.94 %</a:t>
                      </a:r>
                    </a:p>
                  </a:txBody>
                  <a:tcP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25.48 %</a:t>
                      </a:r>
                    </a:p>
                  </a:txBody>
                  <a:tcP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639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RIDGE Regresia 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21.56 %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15.30 %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>
                          <a:highlight>
                            <a:srgbClr val="00FF00"/>
                          </a:highlight>
                        </a:rPr>
                        <a:t>16.75 %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25.24 %</a:t>
                      </a:r>
                    </a:p>
                  </a:txBody>
                  <a:tcPr>
                    <a:solidFill>
                      <a:srgbClr val="80FBE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861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LASSO Regresia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20.15 %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17.07 %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16.80 %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25.26 %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296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S&amp;P 500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7.69 %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8.35 %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21.75 %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>
                          <a:highlight>
                            <a:srgbClr val="00FF00"/>
                          </a:highlight>
                        </a:rPr>
                        <a:t>23.10 %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40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b="1" dirty="0"/>
                        <a:t>NASDAQ </a:t>
                      </a:r>
                      <a:r>
                        <a:rPr lang="sk-SK" b="1" dirty="0" err="1"/>
                        <a:t>Composite</a:t>
                      </a:r>
                      <a:endParaRPr lang="sk-SK" b="1" dirty="0"/>
                    </a:p>
                  </a:txBody>
                  <a:tcP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9.19 %</a:t>
                      </a:r>
                    </a:p>
                  </a:txBody>
                  <a:tcP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>
                          <a:highlight>
                            <a:srgbClr val="00FF00"/>
                          </a:highlight>
                        </a:rPr>
                        <a:t>18.51 %</a:t>
                      </a:r>
                    </a:p>
                  </a:txBody>
                  <a:tcP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25.52 %</a:t>
                      </a:r>
                    </a:p>
                  </a:txBody>
                  <a:tcP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25.15 %</a:t>
                      </a:r>
                    </a:p>
                  </a:txBody>
                  <a:tcP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243974"/>
                  </a:ext>
                </a:extLst>
              </a:tr>
            </a:tbl>
          </a:graphicData>
        </a:graphic>
      </p:graphicFrame>
      <p:sp>
        <p:nvSpPr>
          <p:cNvPr id="5" name="Nadpis 4">
            <a:extLst>
              <a:ext uri="{FF2B5EF4-FFF2-40B4-BE49-F238E27FC236}">
                <a16:creationId xmlns:a16="http://schemas.microsoft.com/office/drawing/2014/main" id="{F7E71EB0-EC25-1B5A-6088-F985F04D7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VÝSLEDKY modelov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3793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1BB7C8DE-C733-1B3F-4593-0EF50EAD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15874"/>
            <a:ext cx="11442188" cy="528186"/>
          </a:xfrm>
        </p:spPr>
        <p:txBody>
          <a:bodyPr anchor="ctr">
            <a:normAutofit/>
          </a:bodyPr>
          <a:lstStyle/>
          <a:p>
            <a:r>
              <a:rPr lang="sk-SK" sz="2500"/>
              <a:t>Lepšie raz vidieť, ako Stokrát počuť...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5EABAB40-0FAD-713C-E3B3-6DC57E33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62" y="1371374"/>
            <a:ext cx="8801075" cy="46425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2459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11D68-647C-1309-788B-BD6C4367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41A4238D-77E0-52F1-75B2-FE3B7716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15874"/>
            <a:ext cx="11442188" cy="528186"/>
          </a:xfrm>
        </p:spPr>
        <p:txBody>
          <a:bodyPr anchor="ctr">
            <a:normAutofit/>
          </a:bodyPr>
          <a:lstStyle/>
          <a:p>
            <a:r>
              <a:rPr lang="sk-SK" sz="2500"/>
              <a:t>Lepšie raz vidieť, ako Stokrát počuť...</a:t>
            </a:r>
          </a:p>
        </p:txBody>
      </p:sp>
      <p:pic>
        <p:nvPicPr>
          <p:cNvPr id="2" name="Obrázok 1">
            <a:extLst>
              <a:ext uri="{FF2B5EF4-FFF2-40B4-BE49-F238E27FC236}">
                <a16:creationId xmlns:a16="http://schemas.microsoft.com/office/drawing/2014/main" id="{54EB8763-8126-0E8E-A20F-5570B591E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18" y="1453464"/>
            <a:ext cx="10339111" cy="46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96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4DDD-2C24-E34F-5481-CE27310F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CD44054D-2B1A-F565-0F26-4B176F7C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Výber vhodných vysvetľujúcich premenných.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/>
              <a:t>Dizajn modulárnej predikčnej </a:t>
            </a:r>
            <a:r>
              <a:rPr lang="sk-SK" dirty="0" err="1"/>
              <a:t>pipeline</a:t>
            </a:r>
            <a:r>
              <a:rPr lang="sk-SK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 err="1"/>
              <a:t>Hyperparametrizácia</a:t>
            </a:r>
            <a:r>
              <a:rPr lang="sk-SK" dirty="0"/>
              <a:t> &amp; </a:t>
            </a:r>
            <a:r>
              <a:rPr lang="sk-SK" dirty="0" err="1"/>
              <a:t>Evaluácia</a:t>
            </a:r>
            <a:r>
              <a:rPr lang="sk-SK" dirty="0"/>
              <a:t> ML modelov.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sk-SK" dirty="0"/>
              <a:t>Výber podmnožiny premenných.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sk-SK" dirty="0"/>
              <a:t>Vhodné predspracovanie premenných.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dirty="0" err="1"/>
              <a:t>Markowitzov</a:t>
            </a:r>
            <a:r>
              <a:rPr lang="sk-SK" dirty="0"/>
              <a:t> model s transakčnými poplatkami.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k-SK" b="1" dirty="0"/>
              <a:t>Komplexný modulárny </a:t>
            </a:r>
            <a:r>
              <a:rPr lang="sk-SK" b="1" dirty="0" err="1"/>
              <a:t>pipeline</a:t>
            </a:r>
            <a:r>
              <a:rPr lang="sk-SK" b="1" dirty="0"/>
              <a:t> na predikciu </a:t>
            </a:r>
            <a:r>
              <a:rPr lang="sk-SK" b="1"/>
              <a:t>akejkoľvek množiny aktív.</a:t>
            </a:r>
            <a:endParaRPr lang="sk-SK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sk-S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sk-S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07B6AC5-73D9-C3B4-9747-E3419B36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METODICKÝ PREHĽAD</a:t>
            </a:r>
          </a:p>
        </p:txBody>
      </p:sp>
    </p:spTree>
    <p:extLst>
      <p:ext uri="{BB962C8B-B14F-4D97-AF65-F5344CB8AC3E}">
        <p14:creationId xmlns:p14="http://schemas.microsoft.com/office/powerpoint/2010/main" val="2210990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788E57BC-B4D2-6773-EFD2-6CB36853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616" y="2745539"/>
            <a:ext cx="8494767" cy="1366921"/>
          </a:xfrm>
        </p:spPr>
        <p:txBody>
          <a:bodyPr/>
          <a:lstStyle/>
          <a:p>
            <a:pPr algn="ctr"/>
            <a:r>
              <a:rPr lang="sk-SK" sz="4400" dirty="0"/>
              <a:t>ĎAKUJEM ZA VAŠU POZORNOSŤ</a:t>
            </a:r>
          </a:p>
        </p:txBody>
      </p:sp>
    </p:spTree>
    <p:extLst>
      <p:ext uri="{BB962C8B-B14F-4D97-AF65-F5344CB8AC3E}">
        <p14:creationId xmlns:p14="http://schemas.microsoft.com/office/powerpoint/2010/main" val="286126725"/>
      </p:ext>
    </p:extLst>
  </p:cSld>
  <p:clrMapOvr>
    <a:masterClrMapping/>
  </p:clrMapOvr>
</p:sld>
</file>

<file path=ppt/theme/theme1.xml><?xml version="1.0" encoding="utf-8"?>
<a:theme xmlns:a="http://schemas.openxmlformats.org/drawingml/2006/main" name="light_modernist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ght modernist presentation_win32_SD_V8" id="{DD9F3DBC-97DB-4389-91E3-8FAD01D677DF}" vid="{B81B0F28-B8BA-42F4-B70F-6899486E52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E5C6AC-AECE-4EBC-9FCA-F0C5028CCA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E7139E-B40C-4943-9610-F20CE66C72C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785538A-412A-48D6-AE25-5C3BDF971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13695</TotalTime>
  <Words>509</Words>
  <Application>Microsoft Macintosh PowerPoint</Application>
  <PresentationFormat>Širokouhlá</PresentationFormat>
  <Paragraphs>129</Paragraphs>
  <Slides>15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Avenir Next LT Pro Light</vt:lpstr>
      <vt:lpstr>Calibri</vt:lpstr>
      <vt:lpstr>light_modernist</vt:lpstr>
      <vt:lpstr>Segment focused portfolio optimization based on machine learning predictions</vt:lpstr>
      <vt:lpstr>MOTIVÁCIA Výskumu</vt:lpstr>
      <vt:lpstr>Doterajší stav problematiky</vt:lpstr>
      <vt:lpstr>Aplikovaný prístup</vt:lpstr>
      <vt:lpstr>Predikčná metodika</vt:lpstr>
      <vt:lpstr>Predikčná metodika</vt:lpstr>
      <vt:lpstr>Naivný prístup</vt:lpstr>
      <vt:lpstr>VÝSLEDKY Predikcií</vt:lpstr>
      <vt:lpstr>Aplikácia na optimalizáciu portfólia</vt:lpstr>
      <vt:lpstr>MARKOWITZOV MEAN-VARIANCE MODEL</vt:lpstr>
      <vt:lpstr>VÝSLEDKY modelov</vt:lpstr>
      <vt:lpstr>Lepšie raz vidieť, ako Stokrát počuť...</vt:lpstr>
      <vt:lpstr>Lepšie raz vidieť, ako Stokrát počuť...</vt:lpstr>
      <vt:lpstr>METODICKÝ PREHĽAD</vt:lpstr>
      <vt:lpstr>ĎAKUJEM ZA VAŠU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Marek Šugár</cp:lastModifiedBy>
  <cp:revision>109</cp:revision>
  <dcterms:created xsi:type="dcterms:W3CDTF">2022-06-22T01:27:02Z</dcterms:created>
  <dcterms:modified xsi:type="dcterms:W3CDTF">2026-05-05T15:33:28Z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